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8"/>
  </p:notesMasterIdLst>
  <p:handoutMasterIdLst>
    <p:handoutMasterId r:id="rId19"/>
  </p:handoutMasterIdLst>
  <p:sldIdLst>
    <p:sldId id="277" r:id="rId4"/>
    <p:sldId id="399" r:id="rId5"/>
    <p:sldId id="400" r:id="rId6"/>
    <p:sldId id="408" r:id="rId7"/>
    <p:sldId id="401" r:id="rId8"/>
    <p:sldId id="402" r:id="rId9"/>
    <p:sldId id="410" r:id="rId10"/>
    <p:sldId id="411" r:id="rId11"/>
    <p:sldId id="416" r:id="rId12"/>
    <p:sldId id="412" r:id="rId13"/>
    <p:sldId id="413" r:id="rId14"/>
    <p:sldId id="414" r:id="rId15"/>
    <p:sldId id="415" r:id="rId16"/>
    <p:sldId id="40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7D3D38-F3F5-4FF9-B7FB-75DD0A2C1C1E}" v="79" dt="2025-11-13T11:41:44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74" autoAdjust="0"/>
    <p:restoredTop sz="94660" autoAdjust="0"/>
  </p:normalViewPr>
  <p:slideViewPr>
    <p:cSldViewPr snapToGrid="0">
      <p:cViewPr varScale="1">
        <p:scale>
          <a:sx n="85" d="100"/>
          <a:sy n="85" d="100"/>
        </p:scale>
        <p:origin x="744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psychology%20mind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nc.org/new-policy-addresses-mental-health-needs-public-school-students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d/3.0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psychology%20mind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8031" y="147602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BACHELOR OF ENGINEERING </a:t>
            </a:r>
            <a:endParaRPr lang="en-US" sz="2400" dirty="0">
              <a:solidFill>
                <a:srgbClr val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</a:rPr>
              <a:t>BIG DATA ANALYTICS 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443345" y="6014156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647071" y="186186"/>
            <a:ext cx="847709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200" b="1" dirty="0">
                <a:latin typeface="Arial Black" panose="020B0A04020102020204" pitchFamily="34" charset="0"/>
              </a:rPr>
              <a:t>Cloud-Powered Mental Health System</a:t>
            </a:r>
            <a:endParaRPr lang="en-IN" sz="3200" dirty="0">
              <a:latin typeface="Arial Black" panose="020B0A04020102020204" pitchFamily="34" charset="0"/>
            </a:endParaRPr>
          </a:p>
          <a:p>
            <a:pPr algn="ctr"/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750591" y="4382940"/>
            <a:ext cx="331796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Submitted by: </a:t>
            </a:r>
          </a:p>
          <a:p>
            <a:r>
              <a:rPr lang="en-US" sz="2000" dirty="0"/>
              <a:t>Raj Singh(22BDA70035)</a:t>
            </a:r>
          </a:p>
          <a:p>
            <a:r>
              <a:rPr lang="en-US" sz="2000" dirty="0"/>
              <a:t>Anmol Rana(22BDA70032) </a:t>
            </a:r>
          </a:p>
          <a:p>
            <a:r>
              <a:rPr lang="en-US" sz="2000" dirty="0"/>
              <a:t>Gautam Singla(22BDA70030)</a:t>
            </a:r>
          </a:p>
          <a:p>
            <a:r>
              <a:rPr lang="en-US" sz="2000" dirty="0"/>
              <a:t>Sidharth Pundir(22BDA70006)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1250" y="4725655"/>
            <a:ext cx="29136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Under the Supervision of:</a:t>
            </a:r>
          </a:p>
          <a:p>
            <a:r>
              <a:rPr lang="en-US" sz="2000" b="1" dirty="0"/>
              <a:t>Dr. Amardeep Singh</a:t>
            </a:r>
            <a:r>
              <a:rPr lang="en-US" sz="2000" dirty="0"/>
              <a:t>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33046"/>
            <a:ext cx="10515600" cy="976206"/>
          </a:xfrm>
        </p:spPr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620"/>
            <a:ext cx="10515600" cy="4952253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Introduction to Project</a:t>
            </a:r>
          </a:p>
          <a:p>
            <a:r>
              <a:rPr lang="en-US" dirty="0">
                <a:latin typeface="Times New Roman"/>
                <a:cs typeface="Times New Roman"/>
              </a:rPr>
              <a:t>Problem Formulation</a:t>
            </a:r>
          </a:p>
          <a:p>
            <a:r>
              <a:rPr lang="en-US" dirty="0">
                <a:latin typeface="Times New Roman"/>
                <a:cs typeface="Times New Roman"/>
              </a:rPr>
              <a:t>Objectives</a:t>
            </a:r>
          </a:p>
          <a:p>
            <a:r>
              <a:rPr lang="en-US" dirty="0">
                <a:latin typeface="Times New Roman"/>
                <a:cs typeface="Times New Roman"/>
              </a:rPr>
              <a:t>Methodology used</a:t>
            </a:r>
          </a:p>
          <a:p>
            <a:r>
              <a:rPr lang="en-US" spc="-10" dirty="0">
                <a:latin typeface="Times New Roman"/>
                <a:cs typeface="Times New Roman"/>
              </a:rPr>
              <a:t>Results and Outputs</a:t>
            </a:r>
          </a:p>
          <a:p>
            <a:r>
              <a:rPr lang="en-US" spc="-10" dirty="0">
                <a:latin typeface="Times New Roman"/>
                <a:cs typeface="Times New Roman"/>
              </a:rPr>
              <a:t>Conclusion</a:t>
            </a:r>
          </a:p>
          <a:p>
            <a:r>
              <a:rPr lang="en-US" dirty="0">
                <a:latin typeface="Times New Roman"/>
                <a:cs typeface="Times New Roman"/>
              </a:rPr>
              <a:t>Future Scope</a:t>
            </a:r>
          </a:p>
          <a:p>
            <a:r>
              <a:rPr lang="en-US" dirty="0">
                <a:latin typeface="Times New Roman"/>
                <a:cs typeface="Times New Roman"/>
              </a:rPr>
              <a:t>References</a:t>
            </a:r>
            <a:endParaRPr lang="en-US" dirty="0"/>
          </a:p>
          <a:p>
            <a:endParaRPr lang="en-US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8741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72024"/>
            <a:ext cx="7027506" cy="4618751"/>
          </a:xfrm>
        </p:spPr>
        <p:txBody>
          <a:bodyPr>
            <a:normAutofit/>
          </a:bodyPr>
          <a:lstStyle/>
          <a:p>
            <a:r>
              <a:rPr lang="en-US" dirty="0"/>
              <a:t>Rising stress, anxiety, depression among students</a:t>
            </a:r>
          </a:p>
          <a:p>
            <a:r>
              <a:rPr lang="en-IN" dirty="0"/>
              <a:t>Institutions lack real-time monitoring</a:t>
            </a:r>
            <a:endParaRPr lang="en-US" dirty="0"/>
          </a:p>
          <a:p>
            <a:r>
              <a:rPr lang="en-US" dirty="0"/>
              <a:t>Need for a continuous, anonymous, cloud-based system</a:t>
            </a:r>
          </a:p>
          <a:p>
            <a:r>
              <a:rPr lang="en-US" dirty="0"/>
              <a:t>Project provides </a:t>
            </a:r>
            <a:r>
              <a:rPr lang="en-US" b="1" dirty="0"/>
              <a:t>data-driven insight for student well-being</a:t>
            </a:r>
          </a:p>
          <a:p>
            <a:r>
              <a:rPr lang="en-US" dirty="0"/>
              <a:t>Converts survey data into useful insights.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AutoShape 2" descr="Image result for give me the image for artificial intelligence">
            <a:extLst>
              <a:ext uri="{FF2B5EF4-FFF2-40B4-BE49-F238E27FC236}">
                <a16:creationId xmlns:a16="http://schemas.microsoft.com/office/drawing/2014/main" id="{D562E9EF-E4F9-EF95-5F89-7143D4CAD5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6" descr="Image result for give me the image for artificial intelligence">
            <a:extLst>
              <a:ext uri="{FF2B5EF4-FFF2-40B4-BE49-F238E27FC236}">
                <a16:creationId xmlns:a16="http://schemas.microsoft.com/office/drawing/2014/main" id="{6E8253CC-3F8B-01CC-5EA6-451F8ED2D7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5999" y="3429000"/>
            <a:ext cx="3057331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7C193DF-A3DB-37EB-7BC4-EAF7C1009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78818" y="1088054"/>
            <a:ext cx="4077478" cy="50225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0B6E-512D-7064-1447-C51D5C5A5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57"/>
            <a:ext cx="10515600" cy="1191445"/>
          </a:xfrm>
        </p:spPr>
        <p:txBody>
          <a:bodyPr>
            <a:normAutofit/>
          </a:bodyPr>
          <a:lstStyle/>
          <a:p>
            <a:r>
              <a:rPr lang="en-US" b="1" dirty="0"/>
              <a:t>INTRODUCTION TO PROJECT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F8E05-1D01-1315-4DF2-FCE653020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BE9E875-2BCC-1C20-DFDD-D70EC1DD2D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5110" y="1053510"/>
            <a:ext cx="9638522" cy="4483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Rising stress, anxiety, and depression among students require continuous monitoring rather than occasional surveys.</a:t>
            </a:r>
          </a:p>
          <a:p>
            <a:r>
              <a:rPr lang="en-US" dirty="0"/>
              <a:t>Current systems are manual, non-real-time, and offer limited insights for administrators.</a:t>
            </a:r>
          </a:p>
          <a:p>
            <a:r>
              <a:rPr lang="en-US" dirty="0"/>
              <a:t>The project provides an anonymous, cloud-based platform to collect and analyze student mental-health data.</a:t>
            </a:r>
          </a:p>
          <a:p>
            <a:r>
              <a:rPr lang="en-US" dirty="0"/>
              <a:t>Integrates </a:t>
            </a:r>
            <a:r>
              <a:rPr lang="en-US" b="1" dirty="0"/>
              <a:t>Google Forms, Google Sheets, Python</a:t>
            </a:r>
            <a:r>
              <a:rPr lang="en-US" dirty="0"/>
              <a:t>, and </a:t>
            </a:r>
            <a:r>
              <a:rPr lang="en-US" b="1" dirty="0"/>
              <a:t>Power BI </a:t>
            </a:r>
            <a:r>
              <a:rPr lang="en-US" dirty="0"/>
              <a:t>to create a fully automated data pipeline.</a:t>
            </a:r>
          </a:p>
          <a:p>
            <a:r>
              <a:rPr lang="en-US" dirty="0"/>
              <a:t>Delivers interactive dashboards that help institutions identify </a:t>
            </a:r>
            <a:r>
              <a:rPr lang="en-US" b="1" dirty="0"/>
              <a:t>trends, correlations</a:t>
            </a:r>
            <a:r>
              <a:rPr lang="en-US" dirty="0"/>
              <a:t>, and </a:t>
            </a:r>
            <a:r>
              <a:rPr lang="en-US" b="1" dirty="0"/>
              <a:t>high-risk student groups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339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/>
              <a:t>PROBLEM FORMULATION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2220A90-CF06-47BD-CD26-74834B481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1" y="908705"/>
            <a:ext cx="7126941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Institutions lack a structured, technology-driven system to monitor students’ mental health.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Existing surveys are conducted infrequently and do not provide real-time insights.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0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Students hesitate to report mental-health issues due to stigma and lack of anonymity.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Administrative decisions are based on limited or fragmented data.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10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No automated analytics or visualization tools exist to identify trends or high-risk groups.</a:t>
            </a:r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3075" name="Picture 3" descr="Premium Photo | Artificial intelligence Free photos Image and ...">
            <a:extLst>
              <a:ext uri="{FF2B5EF4-FFF2-40B4-BE49-F238E27FC236}">
                <a16:creationId xmlns:a16="http://schemas.microsoft.com/office/drawing/2014/main" id="{7D6BC614-19DF-A170-C4B5-330332889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6893" y="569166"/>
            <a:ext cx="4202983" cy="5225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506" y="136526"/>
            <a:ext cx="10515600" cy="936924"/>
          </a:xfrm>
        </p:spPr>
        <p:txBody>
          <a:bodyPr>
            <a:normAutofit/>
          </a:bodyPr>
          <a:lstStyle/>
          <a:p>
            <a:r>
              <a:rPr lang="en-US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3213"/>
            <a:ext cx="9192208" cy="4351338"/>
          </a:xfrm>
        </p:spPr>
        <p:txBody>
          <a:bodyPr>
            <a:normAutofit/>
          </a:bodyPr>
          <a:lstStyle/>
          <a:p>
            <a:r>
              <a:rPr lang="en-US" dirty="0"/>
              <a:t>To design an anonymous mental health survey.</a:t>
            </a:r>
          </a:p>
          <a:p>
            <a:r>
              <a:rPr lang="en-US" dirty="0"/>
              <a:t>To build a real-time cloud pipeline using Google Forms and Google Sheets.</a:t>
            </a:r>
          </a:p>
          <a:p>
            <a:r>
              <a:rPr lang="en-US" dirty="0"/>
              <a:t>To clean and analyze collected data using Python (Pandas, NumPy).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To develop an interactive Power BI dashboard for visualizing stress, anxiety, and depression trends.</a:t>
            </a:r>
          </a:p>
          <a:p>
            <a:r>
              <a:rPr lang="en-US" dirty="0"/>
              <a:t>To generate meaningful insights and recommendations for institutions to support student well-being.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1F42-5E1A-1224-57C5-89273F15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7047"/>
            <a:ext cx="10515600" cy="978483"/>
          </a:xfrm>
        </p:spPr>
        <p:txBody>
          <a:bodyPr>
            <a:normAutofit/>
          </a:bodyPr>
          <a:lstStyle/>
          <a:p>
            <a:r>
              <a:rPr lang="en-US" b="1" dirty="0"/>
              <a:t>METHODOLOGY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CAE31-C30F-3350-5E90-F9EFD009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76812E5-0C23-69C0-7D42-F28B0D84AE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43076"/>
            <a:ext cx="9752045" cy="545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/>
              <a:t>Data Collection &amp; Exploration:</a:t>
            </a:r>
            <a:br>
              <a:rPr lang="en-US" sz="2200" dirty="0"/>
            </a:br>
            <a:r>
              <a:rPr lang="en-US" sz="2200" dirty="0"/>
              <a:t>Designed an online survey using Google Forms to collect anonymous mental-health responses.</a:t>
            </a:r>
          </a:p>
          <a:p>
            <a:pPr marL="0" indent="0">
              <a:buNone/>
            </a:pPr>
            <a:r>
              <a:rPr lang="en-US" sz="2200" dirty="0"/>
              <a:t>    Stored all responses in Google Sheets for real-time cloud access.	</a:t>
            </a:r>
          </a:p>
          <a:p>
            <a:r>
              <a:rPr lang="en-US" sz="2200" b="1" dirty="0"/>
              <a:t>Data Pre-processing:</a:t>
            </a:r>
            <a:br>
              <a:rPr lang="en-US" sz="2200" dirty="0"/>
            </a:br>
            <a:r>
              <a:rPr lang="en-US" sz="2400" dirty="0"/>
              <a:t>Performed data cleaning and data processing using the </a:t>
            </a:r>
            <a:r>
              <a:rPr lang="en-US" sz="2400" dirty="0" err="1"/>
              <a:t>ms</a:t>
            </a:r>
            <a:r>
              <a:rPr lang="en-US" sz="2400" dirty="0"/>
              <a:t>-excel.</a:t>
            </a:r>
          </a:p>
          <a:p>
            <a:r>
              <a:rPr lang="en-US" sz="2200" b="1" dirty="0"/>
              <a:t>Data Analysis:</a:t>
            </a:r>
            <a:br>
              <a:rPr lang="en-US" sz="2200" dirty="0"/>
            </a:br>
            <a:r>
              <a:rPr lang="en-US" sz="2200" dirty="0"/>
              <a:t>Perform analysis using Python like: statistical analysis, Correlation analysis, Time-series analysis etc. </a:t>
            </a:r>
          </a:p>
          <a:p>
            <a:r>
              <a:rPr lang="en-US" sz="2200" b="1" dirty="0"/>
              <a:t>Data Visualization:</a:t>
            </a:r>
            <a:br>
              <a:rPr lang="en-US" sz="2200" dirty="0"/>
            </a:br>
            <a:r>
              <a:rPr lang="en-US" sz="2200" dirty="0"/>
              <a:t>Processed and structured data exported to Power BI for dashboard creation. </a:t>
            </a:r>
          </a:p>
          <a:p>
            <a:pPr marL="179388" indent="0">
              <a:buNone/>
            </a:pPr>
            <a:r>
              <a:rPr lang="en-US" sz="2200" dirty="0"/>
              <a:t>Build interactive charts, filters, and correlation heatmaps to analyze trends and identify high-risk patterns.</a:t>
            </a:r>
          </a:p>
          <a:p>
            <a:pPr marL="0" indent="0">
              <a:buNone/>
            </a:pPr>
            <a:br>
              <a:rPr lang="en-US" sz="2200" dirty="0"/>
            </a:b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284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78CE3-4E88-9EDF-FD0E-9409A57AA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FLOWCHART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072C0-B3D5-267E-E5AC-151D9A226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E3CFE3-83F1-A07F-59C1-512448976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084" y="1249926"/>
            <a:ext cx="7391399" cy="483209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192741-1663-2278-1813-A45EB4DE04A8}"/>
              </a:ext>
            </a:extLst>
          </p:cNvPr>
          <p:cNvSpPr txBox="1"/>
          <p:nvPr/>
        </p:nvSpPr>
        <p:spPr>
          <a:xfrm>
            <a:off x="8525435" y="1249925"/>
            <a:ext cx="2828365" cy="483209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PIPELINE</a:t>
            </a:r>
          </a:p>
          <a:p>
            <a:pPr algn="ctr"/>
            <a:endParaRPr lang="en-US" b="1" u="sng" dirty="0"/>
          </a:p>
          <a:p>
            <a:pPr algn="ctr"/>
            <a:r>
              <a:rPr lang="en-US" sz="1600" b="1" dirty="0"/>
              <a:t>Google Forms</a:t>
            </a:r>
          </a:p>
          <a:p>
            <a:pPr algn="ctr"/>
            <a:r>
              <a:rPr lang="en-US" sz="1600" dirty="0"/>
              <a:t>(Data Collection)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Google Sheet</a:t>
            </a:r>
          </a:p>
          <a:p>
            <a:pPr algn="ctr"/>
            <a:r>
              <a:rPr lang="en-US" sz="1600" dirty="0"/>
              <a:t>(Data Storage)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Excel/Python</a:t>
            </a:r>
          </a:p>
          <a:p>
            <a:pPr algn="ctr"/>
            <a:r>
              <a:rPr lang="en-US" sz="1600" dirty="0"/>
              <a:t>(Data cleaning and Analysis)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b="1" dirty="0"/>
              <a:t>Power BI</a:t>
            </a:r>
          </a:p>
          <a:p>
            <a:pPr algn="ctr"/>
            <a:r>
              <a:rPr lang="en-US" sz="1600" dirty="0"/>
              <a:t>(Data Visualization)</a:t>
            </a:r>
            <a:endParaRPr lang="en-IN" sz="16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307067-8D10-79C6-CC5A-12A65F2A278E}"/>
              </a:ext>
            </a:extLst>
          </p:cNvPr>
          <p:cNvCxnSpPr/>
          <p:nvPr/>
        </p:nvCxnSpPr>
        <p:spPr>
          <a:xfrm>
            <a:off x="9977718" y="2411507"/>
            <a:ext cx="0" cy="5916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EB32DA-017C-9092-FF0A-ACCDC04F4486}"/>
              </a:ext>
            </a:extLst>
          </p:cNvPr>
          <p:cNvCxnSpPr/>
          <p:nvPr/>
        </p:nvCxnSpPr>
        <p:spPr>
          <a:xfrm>
            <a:off x="9977718" y="3621743"/>
            <a:ext cx="0" cy="5916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D03F760-BC6C-6BD6-94BB-2D1E0E409ADC}"/>
              </a:ext>
            </a:extLst>
          </p:cNvPr>
          <p:cNvCxnSpPr/>
          <p:nvPr/>
        </p:nvCxnSpPr>
        <p:spPr>
          <a:xfrm>
            <a:off x="9977718" y="4831978"/>
            <a:ext cx="0" cy="5916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829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95102C-061D-5CC2-939F-8DBF4EFDA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B7159-2259-8907-B701-30604F3E64B7}"/>
              </a:ext>
            </a:extLst>
          </p:cNvPr>
          <p:cNvSpPr txBox="1"/>
          <p:nvPr/>
        </p:nvSpPr>
        <p:spPr>
          <a:xfrm>
            <a:off x="845199" y="222130"/>
            <a:ext cx="77654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RESULTS AND OUTPUTS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4A31D4-57DC-EEDC-5DE6-CAFAD0ABB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40" y="1366371"/>
            <a:ext cx="4379259" cy="191471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0C256F-3FF5-FDFF-6C32-1169F3F38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780" y="1206724"/>
            <a:ext cx="6164580" cy="302461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0D3B52-97A3-3917-56D8-894CBDBEDE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65" y="3429000"/>
            <a:ext cx="4658102" cy="240519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023D96-B05D-9D43-0B0F-FE129674CF47}"/>
              </a:ext>
            </a:extLst>
          </p:cNvPr>
          <p:cNvSpPr txBox="1"/>
          <p:nvPr/>
        </p:nvSpPr>
        <p:spPr>
          <a:xfrm>
            <a:off x="5678780" y="4631596"/>
            <a:ext cx="48364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Displays stress, anxiety, and sleep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4</a:t>
            </a:r>
            <a:r>
              <a:rPr lang="en-US" sz="2000" baseline="30000" dirty="0"/>
              <a:t>th</a:t>
            </a:r>
            <a:r>
              <a:rPr lang="en-US" sz="2000" dirty="0"/>
              <a:t> year students have high stress, anxiety level and minimum sleep hour.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Female stress level are high as compared to Males</a:t>
            </a:r>
            <a:endParaRPr lang="en-US" sz="2000" baseline="30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6021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98341-898D-438C-7D41-01ACD215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6" y="0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RESULTS AND 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4AEA9-366F-0ABF-26A0-9F9F93EE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93D78447-E544-7B2C-C909-169CA64C0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886" y="1181177"/>
            <a:ext cx="969981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Arial" panose="020B0604020202020204" pitchFamily="34" charset="0"/>
              </a:rPr>
              <a:t>Shows average stress, anxiety, sleep hours, and overall health scores.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academic-year trends for stress, anxiety, and sleep.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Highlights gender-wise stress distribution.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Presents real-time dashboard insights from 200+ responses.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Reveals strong correlations between stress, anxiety, and depression.</a:t>
            </a:r>
          </a:p>
          <a:p>
            <a:pPr marL="171450" lvl="0" indent="-1714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457200" lvl="0" indent="-45720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Shows decline in sleep hours as stress increases.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06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C343-5E9C-1DEB-6E81-4EB29459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22309"/>
          </a:xfrm>
        </p:spPr>
        <p:txBody>
          <a:bodyPr>
            <a:normAutofit/>
          </a:bodyPr>
          <a:lstStyle/>
          <a:p>
            <a:r>
              <a:rPr lang="en-IN" b="1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7592C-888C-102D-D221-3400188C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AutoShape 3" descr="Computer Components Artificial Intelligence Photo">
            <a:extLst>
              <a:ext uri="{FF2B5EF4-FFF2-40B4-BE49-F238E27FC236}">
                <a16:creationId xmlns:a16="http://schemas.microsoft.com/office/drawing/2014/main" id="{4792CA3B-7989-80B8-C589-18471C73A8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43999" y="2772746"/>
            <a:ext cx="2062065" cy="2062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5" descr="Computer Components Artificial Intelligence Photo">
            <a:extLst>
              <a:ext uri="{FF2B5EF4-FFF2-40B4-BE49-F238E27FC236}">
                <a16:creationId xmlns:a16="http://schemas.microsoft.com/office/drawing/2014/main" id="{0DA99A9F-86BD-CFA5-978F-06BA0B8E4B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24500" y="2857500"/>
            <a:ext cx="1143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FAC181-E721-C4A3-7865-AD1F3536FB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0965" y="1351508"/>
            <a:ext cx="68580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successfully created a real-time, cloud-based system that analyzes student mental-health data with accuracy and anonymity.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analytics and Power BI dashboards revealed clear trends and correlations, enabling data-driven decision-making for institutions.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is scalable, cost-effective, and provides a practical foundation for future predictive and wellness-focused enhancements.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425BBE-487F-3910-ECF6-FE79025D8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85529" y="386233"/>
            <a:ext cx="4706471" cy="60188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C61504-504B-8B42-82AB-87C7C79857FF}"/>
              </a:ext>
            </a:extLst>
          </p:cNvPr>
          <p:cNvSpPr txBox="1"/>
          <p:nvPr/>
        </p:nvSpPr>
        <p:spPr>
          <a:xfrm>
            <a:off x="7485529" y="6627167"/>
            <a:ext cx="47064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www.ednc.org/new-policy-addresses-mental-health-needs-public-school-students/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d/3.0/"/>
              </a:rPr>
              <a:t>CC BY-ND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3637882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308E2-27F3-8C7A-14D2-F3E7E73BE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86" y="0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FUTURE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8F500-B3A9-9BB0-9027-FD71E3626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6BFA67F-E7DB-2DBC-23D3-6A71A4BC42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3514" y="906601"/>
            <a:ext cx="583794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complete web-based interface with automated backend processing and real-time visualization.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advanced analytics such as machine-learning prediction, sentiment analysis, and trend forecasting.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the system with mobile app support, counsellor dashboards, and IoT data (sleep/heart-rate) for deeper insights.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Extend the system for institutional deployment with semester-based comparisons and long-term wellness tracking.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519FEE-F5FF-A7D6-8CBE-CA117D03F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26418" y="654424"/>
            <a:ext cx="4077478" cy="563231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832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7A67E-9037-E1A3-BCE8-CF170512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64487"/>
          </a:xfrm>
        </p:spPr>
        <p:txBody>
          <a:bodyPr>
            <a:normAutofit/>
          </a:bodyPr>
          <a:lstStyle/>
          <a:p>
            <a:r>
              <a:rPr lang="en-IN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2DD42-8FB2-8F61-C938-B4BDB2DE4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D. Eisenberg, M. </a:t>
            </a:r>
            <a:r>
              <a:rPr lang="en-US" dirty="0" err="1"/>
              <a:t>Golberstein</a:t>
            </a:r>
            <a:r>
              <a:rPr lang="en-US" dirty="0"/>
              <a:t>, and E. </a:t>
            </a:r>
            <a:r>
              <a:rPr lang="en-US" dirty="0" err="1"/>
              <a:t>Gollust</a:t>
            </a:r>
            <a:r>
              <a:rPr lang="en-US" dirty="0"/>
              <a:t>, “Help-seeking and access to mental health care in a university student population,” Medical Care, vol. 45, no. 7, pp. 594– 601, 2007.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J. Hunt and D. Eisenberg, “Mental health problems and help-seeking behavior among college students,” Journal of Adolescent Health, vol. 46, no. 1, pp. 3–10, 2010.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B. Andrews and J. Wilding, “The relation of depression and anxiety to life-stress and achievement in students,” British Journal of Psychology, vol. 95, no. 4, pp. 509– 521, 2004.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S. Kumar and K. Nayar, “Academic stress among university students in India,” Indian Journal of Health and Wellbeing, vol. 7, no. 1, pp. 44–48, 2016.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BDF94-60F0-D4F0-B698-93163A78D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08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73B7-4443-42B0-0B6E-F3442F8F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151" y="2103437"/>
            <a:ext cx="10515600" cy="1647469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50E34-B693-C108-DC8B-B66F699A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3715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6352</TotalTime>
  <Words>876</Words>
  <Application>Microsoft Office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</vt:lpstr>
      <vt:lpstr>INTRODUCTION TO PROJECT</vt:lpstr>
      <vt:lpstr>PROBLEM FORMULATION</vt:lpstr>
      <vt:lpstr>OBJECTIVES</vt:lpstr>
      <vt:lpstr>METHODOLOGY</vt:lpstr>
      <vt:lpstr>FLOWCHART</vt:lpstr>
      <vt:lpstr>PowerPoint Presentation</vt:lpstr>
      <vt:lpstr>RESULTS AND OUTPUTS</vt:lpstr>
      <vt:lpstr>CONCLUSION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22BDA70035 RAJ SINGH</cp:lastModifiedBy>
  <cp:revision>498</cp:revision>
  <dcterms:created xsi:type="dcterms:W3CDTF">2019-01-09T10:33:58Z</dcterms:created>
  <dcterms:modified xsi:type="dcterms:W3CDTF">2025-11-14T12:45:37Z</dcterms:modified>
</cp:coreProperties>
</file>